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2" r:id="rId6"/>
    <p:sldId id="264" r:id="rId7"/>
    <p:sldId id="265" r:id="rId8"/>
    <p:sldId id="269" r:id="rId9"/>
    <p:sldId id="266" r:id="rId10"/>
    <p:sldId id="267"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33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62" d="100"/>
          <a:sy n="62" d="100"/>
        </p:scale>
        <p:origin x="1488" y="4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3/9/2026</a:t>
            </a:fld>
            <a:endParaRPr lang="en-US" dirty="0"/>
          </a:p>
        </p:txBody>
      </p:sp>
      <p:sp>
        <p:nvSpPr>
          <p:cNvPr id="5" name="Footer Placeholder 4"/>
          <p:cNvSpPr>
            <a:spLocks noGrp="1"/>
          </p:cNvSpPr>
          <p:nvPr>
            <p:ph type="ftr" sz="quarter" idx="11"/>
          </p:nvPr>
        </p:nvSpPr>
        <p:spPr>
          <a:xfrm>
            <a:off x="2416500" y="329307"/>
            <a:ext cx="4973915" cy="309201"/>
          </a:xfrm>
        </p:spPr>
        <p:txBody>
          <a:bodyPr/>
          <a:lstStyle/>
          <a:p>
            <a:endParaRPr lang="en-US" dirty="0"/>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dirty="0"/>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pPr/>
              <a:t>3/9/2026</a:t>
            </a:fld>
            <a:endParaRPr lang="en-US" dirty="0"/>
          </a:p>
        </p:txBody>
      </p:sp>
      <p:sp>
        <p:nvSpPr>
          <p:cNvPr id="6" name="Footer Placeholder 5"/>
          <p:cNvSpPr>
            <a:spLocks noGrp="1"/>
          </p:cNvSpPr>
          <p:nvPr>
            <p:ph type="ftr" sz="quarter" idx="11"/>
          </p:nvPr>
        </p:nvSpPr>
        <p:spPr>
          <a:xfrm>
            <a:off x="1447382" y="318640"/>
            <a:ext cx="5541004" cy="320931"/>
          </a:xfrm>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IN"/>
          </a:p>
        </p:txBody>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pPr/>
              <a:t>3/9/2026</a:t>
            </a:fld>
            <a:endParaRPr lang="en-US" dirty="0"/>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pPr/>
              <a:t>‹#›</a:t>
            </a:fld>
            <a:endParaRPr lang="en-US"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DF373-8A2E-168B-8E9A-88C39E214048}"/>
              </a:ext>
            </a:extLst>
          </p:cNvPr>
          <p:cNvSpPr>
            <a:spLocks noGrp="1"/>
          </p:cNvSpPr>
          <p:nvPr>
            <p:ph type="ctrTitle" idx="4294967295"/>
          </p:nvPr>
        </p:nvSpPr>
        <p:spPr>
          <a:xfrm>
            <a:off x="1567656" y="1390904"/>
            <a:ext cx="8637588" cy="2541588"/>
          </a:xfrm>
        </p:spPr>
        <p:txBody>
          <a:bodyPr>
            <a:normAutofit/>
          </a:bodyPr>
          <a:lstStyle/>
          <a:p>
            <a:pPr algn="ctr"/>
            <a:r>
              <a:rPr lang="en-US" sz="4400" i="1" u="sng" dirty="0">
                <a:solidFill>
                  <a:srgbClr val="CC3300"/>
                </a:solidFill>
                <a:latin typeface="Arial Rounded MT Bold" panose="020F0704030504030204" pitchFamily="34" charset="0"/>
              </a:rPr>
              <a:t>3-D QSAR and drug design     Analysis</a:t>
            </a:r>
            <a:endParaRPr lang="en-IN" sz="4400" i="1" u="sng" dirty="0">
              <a:solidFill>
                <a:srgbClr val="CC3300"/>
              </a:solidFill>
              <a:latin typeface="Arial Rounded MT Bold" panose="020F0704030504030204" pitchFamily="34" charset="0"/>
            </a:endParaRPr>
          </a:p>
        </p:txBody>
      </p:sp>
      <p:sp>
        <p:nvSpPr>
          <p:cNvPr id="3" name="Subtitle 2">
            <a:extLst>
              <a:ext uri="{FF2B5EF4-FFF2-40B4-BE49-F238E27FC236}">
                <a16:creationId xmlns:a16="http://schemas.microsoft.com/office/drawing/2014/main" id="{1949C4C9-6A3C-0CD3-3FAA-D9930553CCF0}"/>
              </a:ext>
            </a:extLst>
          </p:cNvPr>
          <p:cNvSpPr>
            <a:spLocks noGrp="1"/>
          </p:cNvSpPr>
          <p:nvPr>
            <p:ph type="subTitle" idx="4294967295"/>
          </p:nvPr>
        </p:nvSpPr>
        <p:spPr>
          <a:xfrm>
            <a:off x="1809750" y="2844261"/>
            <a:ext cx="4200525" cy="1719262"/>
          </a:xfrm>
        </p:spPr>
        <p:txBody>
          <a:bodyPr>
            <a:normAutofit fontScale="70000" lnSpcReduction="20000"/>
          </a:bodyPr>
          <a:lstStyle/>
          <a:p>
            <a:pPr marL="0" indent="0">
              <a:buNone/>
            </a:pPr>
            <a:r>
              <a:rPr lang="en-US" b="1" dirty="0"/>
              <a:t>Team:2</a:t>
            </a:r>
          </a:p>
          <a:p>
            <a:r>
              <a:rPr lang="en-US" dirty="0"/>
              <a:t>Aravind s Harilal : cb.sc.u4aie24008</a:t>
            </a:r>
          </a:p>
          <a:p>
            <a:r>
              <a:rPr lang="en-US" dirty="0"/>
              <a:t>Adhwaidh k : cb.sc.u4aie24003</a:t>
            </a:r>
          </a:p>
          <a:p>
            <a:r>
              <a:rPr lang="en-US" dirty="0"/>
              <a:t>Anirudh Jayan : cb.sc.u4aie24007</a:t>
            </a:r>
          </a:p>
          <a:p>
            <a:r>
              <a:rPr lang="en-US" dirty="0"/>
              <a:t>Sarvesh Ram Kumar : cb.sc.u4aie24048</a:t>
            </a:r>
          </a:p>
          <a:p>
            <a:endParaRPr lang="en-IN" dirty="0"/>
          </a:p>
        </p:txBody>
      </p:sp>
    </p:spTree>
    <p:extLst>
      <p:ext uri="{BB962C8B-B14F-4D97-AF65-F5344CB8AC3E}">
        <p14:creationId xmlns:p14="http://schemas.microsoft.com/office/powerpoint/2010/main" val="42454064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62CB7-B464-E812-4906-354A1B46B874}"/>
              </a:ext>
            </a:extLst>
          </p:cNvPr>
          <p:cNvSpPr>
            <a:spLocks noGrp="1"/>
          </p:cNvSpPr>
          <p:nvPr>
            <p:ph type="title" idx="4294967295"/>
          </p:nvPr>
        </p:nvSpPr>
        <p:spPr>
          <a:xfrm>
            <a:off x="520749" y="439915"/>
            <a:ext cx="9602788" cy="1049338"/>
          </a:xfrm>
        </p:spPr>
        <p:txBody>
          <a:bodyPr>
            <a:normAutofit/>
          </a:bodyPr>
          <a:lstStyle/>
          <a:p>
            <a:r>
              <a:rPr lang="en-US" b="1" i="1" u="sng" dirty="0">
                <a:solidFill>
                  <a:srgbClr val="CC3300"/>
                </a:solidFill>
              </a:rPr>
              <a:t>INTRODUCTION:      </a:t>
            </a:r>
            <a:endParaRPr lang="en-IN" b="1" i="1" u="sng" dirty="0">
              <a:solidFill>
                <a:srgbClr val="CC3300"/>
              </a:solidFill>
            </a:endParaRPr>
          </a:p>
        </p:txBody>
      </p:sp>
      <p:sp>
        <p:nvSpPr>
          <p:cNvPr id="4" name="Rectangle 1">
            <a:extLst>
              <a:ext uri="{FF2B5EF4-FFF2-40B4-BE49-F238E27FC236}">
                <a16:creationId xmlns:a16="http://schemas.microsoft.com/office/drawing/2014/main" id="{D2857A95-C352-1E23-1BE6-8F022F04E2D5}"/>
              </a:ext>
            </a:extLst>
          </p:cNvPr>
          <p:cNvSpPr>
            <a:spLocks noGrp="1" noChangeArrowheads="1"/>
          </p:cNvSpPr>
          <p:nvPr>
            <p:ph idx="4294967295"/>
          </p:nvPr>
        </p:nvSpPr>
        <p:spPr bwMode="auto">
          <a:xfrm>
            <a:off x="520749" y="1489253"/>
            <a:ext cx="10225088"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rPr>
              <a:t>• Drug discovery is a long, costly, and complex process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i="0" u="none" strike="noStrike" cap="none" normalizeH="0" baseline="0" dirty="0">
                <a:ln>
                  <a:noFill/>
                </a:ln>
                <a:solidFill>
                  <a:schemeClr val="tx1"/>
                </a:solidFill>
                <a:effectLst/>
              </a:rPr>
            </a:br>
            <a:r>
              <a:rPr kumimoji="0" lang="en-US" altLang="en-US" sz="1600" i="0" u="none" strike="noStrike" cap="none" normalizeH="0" baseline="0" dirty="0">
                <a:ln>
                  <a:noFill/>
                </a:ln>
                <a:solidFill>
                  <a:schemeClr val="tx1"/>
                </a:solidFill>
                <a:effectLst/>
              </a:rPr>
              <a:t>• Traditional met\hods require extensive laboratory testing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rPr>
              <a:t>• QSAR (Quantitative Structure–Activity Relationship) links chemical structure with biological activity</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i="0" u="none" strike="noStrike" cap="none" normalizeH="0" baseline="0" dirty="0">
                <a:ln>
                  <a:noFill/>
                </a:ln>
                <a:solidFill>
                  <a:schemeClr val="tx1"/>
                </a:solidFill>
                <a:effectLst/>
              </a:rPr>
            </a:br>
            <a:r>
              <a:rPr kumimoji="0" lang="en-US" altLang="en-US" sz="1600" i="0" u="none" strike="noStrike" cap="none" normalizeH="0" baseline="0" dirty="0">
                <a:ln>
                  <a:noFill/>
                </a:ln>
                <a:solidFill>
                  <a:schemeClr val="tx1"/>
                </a:solidFill>
                <a:effectLst/>
              </a:rPr>
              <a:t>• 3-D QSAR considers the three-dimensional structure of molecules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rPr>
              <a:t>• It analyzes shape, size, charge distribution, and molecular interactions</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600" i="0" u="none" strike="noStrike" cap="none" normalizeH="0" baseline="0" dirty="0">
                <a:ln>
                  <a:noFill/>
                </a:ln>
                <a:solidFill>
                  <a:schemeClr val="tx1"/>
                </a:solidFill>
                <a:effectLst/>
              </a:rPr>
            </a:br>
            <a:r>
              <a:rPr kumimoji="0" lang="en-US" altLang="en-US" sz="1600" i="0" u="none" strike="noStrike" cap="none" normalizeH="0" baseline="0" dirty="0">
                <a:ln>
                  <a:noFill/>
                </a:ln>
                <a:solidFill>
                  <a:schemeClr val="tx1"/>
                </a:solidFill>
                <a:effectLst/>
              </a:rPr>
              <a:t>• 3-D QSAR helps predict drug activity and optimize drug 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rPr>
              <a:t>• It plays an important role in modern pharmaceutical research</a:t>
            </a:r>
          </a:p>
        </p:txBody>
      </p:sp>
    </p:spTree>
    <p:extLst>
      <p:ext uri="{BB962C8B-B14F-4D97-AF65-F5344CB8AC3E}">
        <p14:creationId xmlns:p14="http://schemas.microsoft.com/office/powerpoint/2010/main" val="2663057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963BF2-4EEB-69E5-1D03-12795CEC995E}"/>
              </a:ext>
            </a:extLst>
          </p:cNvPr>
          <p:cNvSpPr>
            <a:spLocks noGrp="1"/>
          </p:cNvSpPr>
          <p:nvPr>
            <p:ph type="title" idx="4294967295"/>
          </p:nvPr>
        </p:nvSpPr>
        <p:spPr>
          <a:xfrm>
            <a:off x="507231" y="484239"/>
            <a:ext cx="9604375" cy="1049337"/>
          </a:xfrm>
        </p:spPr>
        <p:txBody>
          <a:bodyPr/>
          <a:lstStyle/>
          <a:p>
            <a:r>
              <a:rPr lang="en-US" b="1" i="1" u="sng" dirty="0">
                <a:solidFill>
                  <a:srgbClr val="CC3300"/>
                </a:solidFill>
              </a:rPr>
              <a:t>oBJECTIVES</a:t>
            </a:r>
            <a:endParaRPr lang="en-IN" b="1" i="1" u="sng" dirty="0">
              <a:solidFill>
                <a:srgbClr val="CC3300"/>
              </a:solidFill>
            </a:endParaRPr>
          </a:p>
        </p:txBody>
      </p:sp>
      <p:sp>
        <p:nvSpPr>
          <p:cNvPr id="4" name="Rectangle 1">
            <a:extLst>
              <a:ext uri="{FF2B5EF4-FFF2-40B4-BE49-F238E27FC236}">
                <a16:creationId xmlns:a16="http://schemas.microsoft.com/office/drawing/2014/main" id="{FE894D0C-B32D-58AD-E04B-0E764A856623}"/>
              </a:ext>
            </a:extLst>
          </p:cNvPr>
          <p:cNvSpPr>
            <a:spLocks noGrp="1" noChangeArrowheads="1"/>
          </p:cNvSpPr>
          <p:nvPr>
            <p:ph idx="4294967295"/>
          </p:nvPr>
        </p:nvSpPr>
        <p:spPr bwMode="auto">
          <a:xfrm>
            <a:off x="507231" y="1533576"/>
            <a:ext cx="7803034"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j-lt"/>
              </a:rPr>
              <a:t>• To understand the basic concept of Quantitative Structure–Activity Relationship (QSAR)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j-lt"/>
              </a:rPr>
              <a:t>• To study the importance of three-dimensional molecular properties in drug activity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j-lt"/>
              </a:rPr>
              <a:t>• To analyze the role of 3-D QSAR in modern drug design and discovery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j-lt"/>
              </a:rPr>
              <a:t>• To learn about major 3-D QSAR techniques such as </a:t>
            </a:r>
            <a:r>
              <a:rPr kumimoji="0" lang="en-US" altLang="en-US" sz="1600" i="0" u="none" strike="noStrike" cap="none" normalizeH="0" baseline="0" dirty="0" err="1">
                <a:ln>
                  <a:noFill/>
                </a:ln>
                <a:solidFill>
                  <a:schemeClr val="tx1"/>
                </a:solidFill>
                <a:effectLst/>
                <a:latin typeface="+mj-lt"/>
              </a:rPr>
              <a:t>CoMFA</a:t>
            </a:r>
            <a:r>
              <a:rPr kumimoji="0" lang="en-US" altLang="en-US" sz="1600" i="0" u="none" strike="noStrike" cap="none" normalizeH="0" baseline="0" dirty="0">
                <a:ln>
                  <a:noFill/>
                </a:ln>
                <a:solidFill>
                  <a:schemeClr val="tx1"/>
                </a:solidFill>
                <a:effectLst/>
                <a:latin typeface="+mj-lt"/>
              </a:rPr>
              <a:t> and CoMSIA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j-lt"/>
              </a:rPr>
              <a:t>• To explain the steps involved in performing a 3-D QSAR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j-lt"/>
              </a:rPr>
              <a:t>• To evaluate the applications, advantages, and limitations of 3-D QSAR in drug development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i="0" u="none" strike="noStrike" cap="none" normalizeH="0" baseline="0" dirty="0">
                <a:ln>
                  <a:noFill/>
                </a:ln>
                <a:solidFill>
                  <a:schemeClr val="tx1"/>
                </a:solidFill>
                <a:effectLst/>
                <a:latin typeface="+mj-lt"/>
              </a:rPr>
              <a:t>• To highlight how 3-D QSAR helps in designing safer and more effective drugs</a:t>
            </a:r>
          </a:p>
        </p:txBody>
      </p:sp>
    </p:spTree>
    <p:extLst>
      <p:ext uri="{BB962C8B-B14F-4D97-AF65-F5344CB8AC3E}">
        <p14:creationId xmlns:p14="http://schemas.microsoft.com/office/powerpoint/2010/main" val="3230066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BE454-83A9-D5BB-C2E7-9C11C832A356}"/>
              </a:ext>
            </a:extLst>
          </p:cNvPr>
          <p:cNvSpPr>
            <a:spLocks noGrp="1"/>
          </p:cNvSpPr>
          <p:nvPr>
            <p:ph type="title" idx="4294967295"/>
          </p:nvPr>
        </p:nvSpPr>
        <p:spPr>
          <a:xfrm>
            <a:off x="426781" y="435625"/>
            <a:ext cx="9604375" cy="1049338"/>
          </a:xfrm>
        </p:spPr>
        <p:txBody>
          <a:bodyPr/>
          <a:lstStyle/>
          <a:p>
            <a:r>
              <a:rPr lang="en-US" b="1" i="1" u="sng" dirty="0">
                <a:solidFill>
                  <a:srgbClr val="CC3300"/>
                </a:solidFill>
              </a:rPr>
              <a:t>Problem statement</a:t>
            </a:r>
            <a:endParaRPr lang="en-IN" b="1" i="1" u="sng" dirty="0">
              <a:solidFill>
                <a:srgbClr val="CC3300"/>
              </a:solidFill>
            </a:endParaRPr>
          </a:p>
        </p:txBody>
      </p:sp>
      <p:sp>
        <p:nvSpPr>
          <p:cNvPr id="4" name="Rectangle 1">
            <a:extLst>
              <a:ext uri="{FF2B5EF4-FFF2-40B4-BE49-F238E27FC236}">
                <a16:creationId xmlns:a16="http://schemas.microsoft.com/office/drawing/2014/main" id="{06AC05EF-8520-59C6-700E-8030B560F28C}"/>
              </a:ext>
            </a:extLst>
          </p:cNvPr>
          <p:cNvSpPr>
            <a:spLocks noGrp="1" noChangeArrowheads="1"/>
          </p:cNvSpPr>
          <p:nvPr>
            <p:ph idx="4294967295"/>
          </p:nvPr>
        </p:nvSpPr>
        <p:spPr bwMode="auto">
          <a:xfrm>
            <a:off x="515272" y="1413063"/>
            <a:ext cx="10817507"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mj-lt"/>
              </a:rPr>
              <a:t>Experimental drug discovery and optimization is complex, time-consuming, and often limited by high costs and extensive laboratory testing. </a:t>
            </a:r>
          </a:p>
          <a:p>
            <a:pPr eaLnBrk="0" fontAlgn="base"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mj-lt"/>
              </a:rPr>
              <a:t>Understanding how molecular structure influences biological activity is challenging due to the involvement of three-dimensional interactions such as steric effects, electrostatic forces, and hydrophobic interactions.</a:t>
            </a:r>
          </a:p>
          <a:p>
            <a:pPr marL="0" indent="0" eaLnBrk="0" fontAlgn="base" hangingPunct="0">
              <a:lnSpc>
                <a:spcPct val="100000"/>
              </a:lnSpc>
              <a:spcBef>
                <a:spcPct val="0"/>
              </a:spcBef>
              <a:spcAft>
                <a:spcPct val="0"/>
              </a:spcAft>
              <a:buClrTx/>
              <a:buSzTx/>
              <a:buNone/>
            </a:pPr>
            <a:endParaRPr kumimoji="0" lang="en-US" altLang="en-US" sz="1600" b="0" i="0" u="none" strike="noStrike" cap="none" normalizeH="0" baseline="0" dirty="0">
              <a:ln>
                <a:noFill/>
              </a:ln>
              <a:solidFill>
                <a:schemeClr val="tx1"/>
              </a:solidFill>
              <a:effectLst/>
              <a:latin typeface="+mj-lt"/>
            </a:endParaRPr>
          </a:p>
          <a:p>
            <a:pPr eaLnBrk="0" fontAlgn="base"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mj-lt"/>
              </a:rPr>
              <a:t>Traditional QSAR methods do not fully capture these spatial interactions, leading to limited accuracy in predicting drug activity. Hence, a computational approach is required to analyze and optimize drug–target interactions using three-dimensional molecular information.</a:t>
            </a:r>
          </a:p>
          <a:p>
            <a:pPr eaLnBrk="0" fontAlgn="base" hangingPunct="0">
              <a:lnSpc>
                <a:spcPct val="100000"/>
              </a:lnSpc>
              <a:spcBef>
                <a:spcPct val="0"/>
              </a:spcBef>
              <a:spcAft>
                <a:spcPct val="0"/>
              </a:spcAft>
              <a:buClrTx/>
              <a:buSzTx/>
            </a:pPr>
            <a:r>
              <a:rPr kumimoji="0" lang="en-US" altLang="en-US" sz="1600" b="0" i="0" u="none" strike="noStrike" cap="none" normalizeH="0" baseline="0" dirty="0">
                <a:ln>
                  <a:noFill/>
                </a:ln>
                <a:solidFill>
                  <a:schemeClr val="tx1"/>
                </a:solidFill>
                <a:effectLst/>
                <a:latin typeface="+mj-lt"/>
              </a:rPr>
              <a:t>This project employs </a:t>
            </a:r>
            <a:r>
              <a:rPr kumimoji="0" lang="en-US" altLang="en-US" sz="1600" b="1" i="0" u="none" strike="noStrike" cap="none" normalizeH="0" baseline="0" dirty="0">
                <a:ln>
                  <a:noFill/>
                </a:ln>
                <a:solidFill>
                  <a:schemeClr val="tx1"/>
                </a:solidFill>
                <a:effectLst/>
                <a:latin typeface="+mj-lt"/>
              </a:rPr>
              <a:t>3-D Quantitative Structure–Activity Relationship (3-D QSAR) analysis</a:t>
            </a:r>
            <a:r>
              <a:rPr kumimoji="0" lang="en-US" altLang="en-US" sz="1600" b="0" i="0" u="none" strike="noStrike" cap="none" normalizeH="0" baseline="0" dirty="0">
                <a:ln>
                  <a:noFill/>
                </a:ln>
                <a:solidFill>
                  <a:schemeClr val="tx1"/>
                </a:solidFill>
                <a:effectLst/>
                <a:latin typeface="+mj-lt"/>
              </a:rPr>
              <a:t> to study the relationship between molecular structure and biological activity, enabling accurate activity prediction and rational drug design.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j-lt"/>
              </a:rPr>
              <a:t>Key Focus Points: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mj-lt"/>
              </a:rPr>
              <a:t>• Analyze three-dimensional molecular properties affecting drug activity</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 Study steric, electrostatic, and hydrophobic interactions</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 Predict biological activity of compounds computationally</a:t>
            </a:r>
            <a:br>
              <a:rPr kumimoji="0" lang="en-US" altLang="en-US" sz="1600" b="0" i="0" u="none" strike="noStrike" cap="none" normalizeH="0" baseline="0" dirty="0">
                <a:ln>
                  <a:noFill/>
                </a:ln>
                <a:solidFill>
                  <a:schemeClr val="tx1"/>
                </a:solidFill>
                <a:effectLst/>
                <a:latin typeface="+mj-lt"/>
              </a:rPr>
            </a:br>
            <a:r>
              <a:rPr kumimoji="0" lang="en-US" altLang="en-US" sz="1600" b="0" i="0" u="none" strike="noStrike" cap="none" normalizeH="0" baseline="0" dirty="0">
                <a:ln>
                  <a:noFill/>
                </a:ln>
                <a:solidFill>
                  <a:schemeClr val="tx1"/>
                </a:solidFill>
                <a:effectLst/>
                <a:latin typeface="+mj-lt"/>
              </a:rPr>
              <a:t>• Assist in optimizing drug candidates with improved efficacy and safety</a:t>
            </a:r>
          </a:p>
        </p:txBody>
      </p:sp>
    </p:spTree>
    <p:extLst>
      <p:ext uri="{BB962C8B-B14F-4D97-AF65-F5344CB8AC3E}">
        <p14:creationId xmlns:p14="http://schemas.microsoft.com/office/powerpoint/2010/main" val="14670172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960389-6758-845B-F0CD-A23FACDCF673}"/>
              </a:ext>
            </a:extLst>
          </p:cNvPr>
          <p:cNvSpPr>
            <a:spLocks noGrp="1"/>
          </p:cNvSpPr>
          <p:nvPr>
            <p:ph type="title" idx="4294967295"/>
          </p:nvPr>
        </p:nvSpPr>
        <p:spPr>
          <a:xfrm>
            <a:off x="371067" y="447262"/>
            <a:ext cx="6759004" cy="1049337"/>
          </a:xfrm>
        </p:spPr>
        <p:txBody>
          <a:bodyPr/>
          <a:lstStyle/>
          <a:p>
            <a:r>
              <a:rPr lang="en-IN" b="1" i="1" u="sng" dirty="0">
                <a:solidFill>
                  <a:srgbClr val="CC3300"/>
                </a:solidFill>
              </a:rPr>
              <a:t>Dataset description</a:t>
            </a:r>
          </a:p>
        </p:txBody>
      </p:sp>
      <p:sp>
        <p:nvSpPr>
          <p:cNvPr id="3" name="Content Placeholder 2">
            <a:extLst>
              <a:ext uri="{FF2B5EF4-FFF2-40B4-BE49-F238E27FC236}">
                <a16:creationId xmlns:a16="http://schemas.microsoft.com/office/drawing/2014/main" id="{144A3233-056A-0657-248C-B4DF7C1EFEA0}"/>
              </a:ext>
            </a:extLst>
          </p:cNvPr>
          <p:cNvSpPr>
            <a:spLocks noGrp="1"/>
          </p:cNvSpPr>
          <p:nvPr>
            <p:ph idx="4294967295"/>
          </p:nvPr>
        </p:nvSpPr>
        <p:spPr>
          <a:xfrm>
            <a:off x="556418" y="1353566"/>
            <a:ext cx="11079163" cy="4150868"/>
          </a:xfrm>
        </p:spPr>
        <p:txBody>
          <a:bodyPr>
            <a:noAutofit/>
          </a:bodyPr>
          <a:lstStyle/>
          <a:p>
            <a:r>
              <a:rPr lang="en-US" altLang="en-US" sz="1600" dirty="0"/>
              <a:t>The study uses the </a:t>
            </a:r>
            <a:r>
              <a:rPr lang="en-US" altLang="en-US" sz="1600" b="1" dirty="0"/>
              <a:t>ESOL (Delaney) dataset</a:t>
            </a:r>
            <a:r>
              <a:rPr lang="en-US" altLang="en-US" sz="1600" dirty="0"/>
              <a:t>, a benchmark dataset widely used for molecular solubility prediction in QSAR studies.</a:t>
            </a:r>
          </a:p>
          <a:p>
            <a:r>
              <a:rPr lang="en-US" altLang="en-US" sz="1600" dirty="0"/>
              <a:t>The dataset consists of </a:t>
            </a:r>
            <a:r>
              <a:rPr lang="en-US" altLang="en-US" sz="1600" b="1" dirty="0"/>
              <a:t>drug-like small organic molecules</a:t>
            </a:r>
            <a:r>
              <a:rPr lang="en-US" altLang="en-US" sz="1600" dirty="0"/>
              <a:t> with experimentally measured aqueous solubility values expressed as </a:t>
            </a:r>
            <a:r>
              <a:rPr lang="en-US" altLang="en-US" sz="1600" b="1" dirty="0"/>
              <a:t>log solubility (mol/L)</a:t>
            </a:r>
            <a:r>
              <a:rPr lang="en-US" altLang="en-US" sz="1600" dirty="0"/>
              <a:t>.</a:t>
            </a:r>
          </a:p>
          <a:p>
            <a:r>
              <a:rPr lang="en-US" altLang="en-US" sz="1600" dirty="0"/>
              <a:t>Each molecule is represented using a </a:t>
            </a:r>
            <a:r>
              <a:rPr lang="en-US" altLang="en-US" sz="1600" b="1" dirty="0"/>
              <a:t>SMILES string</a:t>
            </a:r>
            <a:r>
              <a:rPr lang="en-US" altLang="en-US" sz="1600" dirty="0"/>
              <a:t>, which encodes its chemical structure and serves as input for 3D structure generation.</a:t>
            </a:r>
          </a:p>
          <a:p>
            <a:r>
              <a:rPr lang="en-US" altLang="en-US" sz="1600" dirty="0"/>
              <a:t>The dataset includes </a:t>
            </a:r>
            <a:r>
              <a:rPr lang="en-US" altLang="en-US" sz="1600" b="1" dirty="0"/>
              <a:t>precomputed physicochemical descriptors</a:t>
            </a:r>
            <a:r>
              <a:rPr lang="en-US" altLang="en-US" sz="1600" dirty="0"/>
              <a:t> such as molecular weight, hydrogen bond donors, number of rings, rotatable bonds, and polar surface area. The </a:t>
            </a:r>
            <a:r>
              <a:rPr lang="en-US" altLang="en-US" sz="1600" b="1" dirty="0"/>
              <a:t>measured log solubility</a:t>
            </a:r>
            <a:r>
              <a:rPr lang="en-US" altLang="en-US" sz="1600" dirty="0"/>
              <a:t> is used as the </a:t>
            </a:r>
            <a:r>
              <a:rPr lang="en-US" altLang="en-US" sz="1600" b="1" dirty="0"/>
              <a:t>target variable</a:t>
            </a:r>
            <a:r>
              <a:rPr lang="en-US" altLang="en-US" sz="1600" dirty="0"/>
              <a:t> for training and evaluating the 3D-QSAR machine-learning model.</a:t>
            </a:r>
          </a:p>
          <a:p>
            <a:r>
              <a:rPr lang="en-US" altLang="en-US" sz="1600" dirty="0"/>
              <a:t>The chemical diversity of the dataset makes it suitable for </a:t>
            </a:r>
            <a:r>
              <a:rPr lang="en-US" altLang="en-US" sz="1600" b="1" dirty="0"/>
              <a:t>QSAR modeling and machine-learning–based property prediction</a:t>
            </a:r>
            <a:r>
              <a:rPr lang="en-US" altLang="en-US" sz="1600" dirty="0"/>
              <a:t>.</a:t>
            </a:r>
          </a:p>
          <a:p>
            <a:r>
              <a:rPr lang="en-US" altLang="en-US" sz="1600" dirty="0"/>
              <a:t>The dataset supports </a:t>
            </a:r>
            <a:r>
              <a:rPr lang="en-US" altLang="en-US" sz="1600" b="1" dirty="0"/>
              <a:t>3D-QSAR analysis</a:t>
            </a:r>
            <a:r>
              <a:rPr lang="en-US" altLang="en-US" sz="1600" dirty="0"/>
              <a:t> by enabling conversion of SMILES into optimized three-dimensional molecular conformations.</a:t>
            </a:r>
          </a:p>
          <a:p>
            <a:endParaRPr lang="en-IN" sz="1600" dirty="0"/>
          </a:p>
        </p:txBody>
      </p:sp>
    </p:spTree>
    <p:extLst>
      <p:ext uri="{BB962C8B-B14F-4D97-AF65-F5344CB8AC3E}">
        <p14:creationId xmlns:p14="http://schemas.microsoft.com/office/powerpoint/2010/main" val="5205290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69D9A-3976-992A-0D4F-3A0477566A6C}"/>
              </a:ext>
            </a:extLst>
          </p:cNvPr>
          <p:cNvSpPr>
            <a:spLocks noGrp="1"/>
          </p:cNvSpPr>
          <p:nvPr>
            <p:ph type="title" idx="4294967295"/>
          </p:nvPr>
        </p:nvSpPr>
        <p:spPr>
          <a:xfrm>
            <a:off x="429140" y="424864"/>
            <a:ext cx="9604375" cy="1049337"/>
          </a:xfrm>
        </p:spPr>
        <p:txBody>
          <a:bodyPr/>
          <a:lstStyle/>
          <a:p>
            <a:r>
              <a:rPr lang="en-US" b="1" i="1" u="sng" dirty="0">
                <a:solidFill>
                  <a:srgbClr val="CC3300"/>
                </a:solidFill>
              </a:rPr>
              <a:t>Methodology </a:t>
            </a:r>
            <a:endParaRPr lang="en-IN" b="1" i="1" u="sng" dirty="0">
              <a:solidFill>
                <a:srgbClr val="CC3300"/>
              </a:solidFill>
            </a:endParaRPr>
          </a:p>
        </p:txBody>
      </p:sp>
      <p:sp>
        <p:nvSpPr>
          <p:cNvPr id="3" name="Content Placeholder 2">
            <a:extLst>
              <a:ext uri="{FF2B5EF4-FFF2-40B4-BE49-F238E27FC236}">
                <a16:creationId xmlns:a16="http://schemas.microsoft.com/office/drawing/2014/main" id="{42BC52A3-A42E-0218-D9A1-FEABD2A95CC1}"/>
              </a:ext>
            </a:extLst>
          </p:cNvPr>
          <p:cNvSpPr>
            <a:spLocks noGrp="1"/>
          </p:cNvSpPr>
          <p:nvPr>
            <p:ph idx="4294967295"/>
          </p:nvPr>
        </p:nvSpPr>
        <p:spPr>
          <a:xfrm>
            <a:off x="580510" y="1269379"/>
            <a:ext cx="11182350" cy="4089707"/>
          </a:xfrm>
        </p:spPr>
        <p:txBody>
          <a:bodyPr>
            <a:noAutofit/>
          </a:bodyPr>
          <a:lstStyle/>
          <a:p>
            <a:pPr marL="0" indent="0">
              <a:buNone/>
            </a:pPr>
            <a:r>
              <a:rPr lang="en-US" sz="1600" b="1" dirty="0"/>
              <a:t>1. Dataset Collection</a:t>
            </a:r>
          </a:p>
          <a:p>
            <a:r>
              <a:rPr lang="en-US" sz="1600" dirty="0"/>
              <a:t>A curated molecular dataset containing </a:t>
            </a:r>
            <a:r>
              <a:rPr lang="en-US" sz="1600" b="1" dirty="0"/>
              <a:t>SMILES representations</a:t>
            </a:r>
            <a:r>
              <a:rPr lang="en-US" sz="1600" dirty="0"/>
              <a:t> and </a:t>
            </a:r>
            <a:r>
              <a:rPr lang="en-US" sz="1600" b="1" dirty="0"/>
              <a:t>experimentally measured log solubility values</a:t>
            </a:r>
            <a:r>
              <a:rPr lang="en-US" sz="1600" dirty="0"/>
              <a:t> was used for this study. </a:t>
            </a:r>
          </a:p>
          <a:p>
            <a:r>
              <a:rPr lang="en-US" sz="1600" dirty="0"/>
              <a:t>The SMILES strings describe the 2D chemical structures, while the measured log solubility serves as the target property for QSAR modeling. Missing or invalid entries were removed prior to analysis.</a:t>
            </a:r>
          </a:p>
          <a:p>
            <a:pPr marL="0" indent="0">
              <a:buNone/>
            </a:pPr>
            <a:r>
              <a:rPr lang="en-US" sz="1600" b="1" dirty="0"/>
              <a:t>2. Molecular Structure Representation</a:t>
            </a:r>
          </a:p>
          <a:p>
            <a:r>
              <a:rPr lang="en-US" sz="1600" dirty="0"/>
              <a:t>The chemical structures of the drug molecules are represented in three-dimensional form. </a:t>
            </a:r>
          </a:p>
          <a:p>
            <a:r>
              <a:rPr lang="en-US" sz="1600" dirty="0"/>
              <a:t>This allows the spatial arrangement of atoms, bond lengths, and angles to be considered, which is essential for 3-D QSAR analysis.</a:t>
            </a:r>
          </a:p>
          <a:p>
            <a:pPr marL="0" indent="0">
              <a:buNone/>
            </a:pPr>
            <a:r>
              <a:rPr lang="en-US" sz="1600" b="1" dirty="0"/>
              <a:t>3. Calculation of Molecular Descriptors</a:t>
            </a:r>
          </a:p>
          <a:p>
            <a:r>
              <a:rPr lang="en-US" sz="1600" dirty="0"/>
              <a:t>Three-dimensional molecular descriptors are calculated from the structures. These descriptors numerically represent important molecular properties such as steric effects, electrostatic charge distribution, and hydrophobicity, which influence drug–target interactions.</a:t>
            </a:r>
          </a:p>
          <a:p>
            <a:endParaRPr lang="en-US" sz="1600" dirty="0"/>
          </a:p>
          <a:p>
            <a:endParaRPr lang="en-IN" sz="1600" dirty="0"/>
          </a:p>
        </p:txBody>
      </p:sp>
    </p:spTree>
    <p:extLst>
      <p:ext uri="{BB962C8B-B14F-4D97-AF65-F5344CB8AC3E}">
        <p14:creationId xmlns:p14="http://schemas.microsoft.com/office/powerpoint/2010/main" val="2649987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960AC-6CEF-2C53-F7D9-268AF9986C3E}"/>
              </a:ext>
            </a:extLst>
          </p:cNvPr>
          <p:cNvSpPr>
            <a:spLocks noGrp="1"/>
          </p:cNvSpPr>
          <p:nvPr>
            <p:ph type="title" idx="4294967295"/>
          </p:nvPr>
        </p:nvSpPr>
        <p:spPr>
          <a:xfrm>
            <a:off x="2589213" y="1069975"/>
            <a:ext cx="9602787" cy="1049338"/>
          </a:xfrm>
        </p:spPr>
        <p:txBody>
          <a:bodyPr/>
          <a:lstStyle/>
          <a:p>
            <a:r>
              <a:rPr lang="en-US" dirty="0"/>
              <a:t> </a:t>
            </a:r>
            <a:endParaRPr lang="en-IN" dirty="0"/>
          </a:p>
        </p:txBody>
      </p:sp>
      <p:sp>
        <p:nvSpPr>
          <p:cNvPr id="3" name="Content Placeholder 2">
            <a:extLst>
              <a:ext uri="{FF2B5EF4-FFF2-40B4-BE49-F238E27FC236}">
                <a16:creationId xmlns:a16="http://schemas.microsoft.com/office/drawing/2014/main" id="{C51DB2C0-55A9-B59E-5F07-B155FE962931}"/>
              </a:ext>
            </a:extLst>
          </p:cNvPr>
          <p:cNvSpPr>
            <a:spLocks noGrp="1"/>
          </p:cNvSpPr>
          <p:nvPr>
            <p:ph idx="4294967295"/>
          </p:nvPr>
        </p:nvSpPr>
        <p:spPr>
          <a:xfrm>
            <a:off x="774750" y="659374"/>
            <a:ext cx="11212771" cy="5306859"/>
          </a:xfrm>
        </p:spPr>
        <p:txBody>
          <a:bodyPr>
            <a:noAutofit/>
          </a:bodyPr>
          <a:lstStyle/>
          <a:p>
            <a:pPr marL="0" indent="0">
              <a:buNone/>
            </a:pPr>
            <a:r>
              <a:rPr lang="en-US" sz="1600" b="1" dirty="0"/>
              <a:t>4. SMILES to 3D Structure Generation</a:t>
            </a:r>
          </a:p>
          <a:p>
            <a:r>
              <a:rPr lang="en-US" sz="1600" dirty="0"/>
              <a:t>Since 3D-QSAR requires spatial information, SMILES strings were not used directly for model training.</a:t>
            </a:r>
          </a:p>
          <a:p>
            <a:r>
              <a:rPr lang="en-US" sz="1600" dirty="0"/>
              <a:t>Instead, each SMILES was converted into a </a:t>
            </a:r>
            <a:r>
              <a:rPr lang="en-US" sz="1600" b="1" dirty="0"/>
              <a:t>three-dimensional molecular conformer</a:t>
            </a:r>
            <a:r>
              <a:rPr lang="en-US" sz="1600" dirty="0"/>
              <a:t> using </a:t>
            </a:r>
            <a:r>
              <a:rPr lang="en-US" sz="1600" dirty="0" err="1"/>
              <a:t>RDKit</a:t>
            </a:r>
            <a:r>
              <a:rPr lang="en-US" sz="1600" dirty="0"/>
              <a:t>. Hydrogen atoms were explicitly added, followed by 3D coordinate generation using the ETKDG algorithm. </a:t>
            </a:r>
          </a:p>
          <a:p>
            <a:r>
              <a:rPr lang="en-US" sz="1600" dirty="0"/>
              <a:t>The resulting conformers were geometry-optimized using the Universal Force Field (UFF) to obtain energetically reasonable molecular structures.</a:t>
            </a:r>
          </a:p>
          <a:p>
            <a:pPr marL="0" indent="0">
              <a:buNone/>
            </a:pPr>
            <a:r>
              <a:rPr lang="en-US" sz="1600" b="1" dirty="0"/>
              <a:t>5. 3D Descriptor Extraction</a:t>
            </a:r>
          </a:p>
          <a:p>
            <a:r>
              <a:rPr lang="en-US" sz="1600" dirty="0"/>
              <a:t>From the optimized 3D molecular structures, a set of </a:t>
            </a:r>
            <a:r>
              <a:rPr lang="en-US" sz="1600" b="1" dirty="0"/>
              <a:t>shape-based and physicochemical descriptors</a:t>
            </a:r>
            <a:r>
              <a:rPr lang="en-US" sz="1600" dirty="0"/>
              <a:t> was calculated. These descriptors numerically encode molecular geometry and properties relevant to solubility and drug-like behavior. </a:t>
            </a:r>
          </a:p>
          <a:p>
            <a:r>
              <a:rPr lang="en-US" sz="1600" dirty="0"/>
              <a:t>The extracted features included:</a:t>
            </a:r>
          </a:p>
          <a:p>
            <a:r>
              <a:rPr lang="en-US" sz="1600" dirty="0"/>
              <a:t>Molecular Weight, </a:t>
            </a:r>
            <a:r>
              <a:rPr lang="en-US" sz="1600" dirty="0" err="1"/>
              <a:t>LogP</a:t>
            </a:r>
            <a:r>
              <a:rPr lang="en-US" sz="1600" dirty="0"/>
              <a:t>,  Topological Polar Surface Area (TPSA), Number of Hydrogen Bond Donors, Number of Hydrogen Bond Acceptors and more</a:t>
            </a:r>
          </a:p>
          <a:p>
            <a:r>
              <a:rPr lang="en-US" sz="1600" dirty="0"/>
              <a:t>These descriptors formed the </a:t>
            </a:r>
            <a:r>
              <a:rPr lang="en-US" sz="1600" b="1" dirty="0"/>
              <a:t>feature matrix (X)</a:t>
            </a:r>
            <a:r>
              <a:rPr lang="en-US" sz="1600" dirty="0"/>
              <a:t> used for machine-learning modeling. The </a:t>
            </a:r>
            <a:r>
              <a:rPr lang="en-US" sz="1600" b="1" dirty="0"/>
              <a:t>measured log solubility</a:t>
            </a:r>
            <a:r>
              <a:rPr lang="en-US" sz="1600" dirty="0"/>
              <a:t> values constituted the </a:t>
            </a:r>
            <a:r>
              <a:rPr lang="en-US" sz="1600" b="1" dirty="0"/>
              <a:t>target variable (y)</a:t>
            </a:r>
            <a:r>
              <a:rPr lang="en-US" sz="1600" dirty="0"/>
              <a:t>.</a:t>
            </a:r>
          </a:p>
          <a:p>
            <a:endParaRPr lang="en-IN" sz="1600" dirty="0"/>
          </a:p>
        </p:txBody>
      </p:sp>
    </p:spTree>
    <p:extLst>
      <p:ext uri="{BB962C8B-B14F-4D97-AF65-F5344CB8AC3E}">
        <p14:creationId xmlns:p14="http://schemas.microsoft.com/office/powerpoint/2010/main" val="15902504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CA2270-501E-7995-F097-8495A0CF59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5E9F9A-C22B-E8E4-D946-59BCE28EECF6}"/>
              </a:ext>
            </a:extLst>
          </p:cNvPr>
          <p:cNvSpPr>
            <a:spLocks noGrp="1"/>
          </p:cNvSpPr>
          <p:nvPr>
            <p:ph type="title" idx="4294967295"/>
          </p:nvPr>
        </p:nvSpPr>
        <p:spPr>
          <a:xfrm>
            <a:off x="2589213" y="1069975"/>
            <a:ext cx="9602787" cy="1049338"/>
          </a:xfrm>
        </p:spPr>
        <p:txBody>
          <a:bodyPr/>
          <a:lstStyle/>
          <a:p>
            <a:r>
              <a:rPr lang="en-US" dirty="0"/>
              <a:t> </a:t>
            </a:r>
            <a:endParaRPr lang="en-IN" dirty="0"/>
          </a:p>
        </p:txBody>
      </p:sp>
      <p:sp>
        <p:nvSpPr>
          <p:cNvPr id="3" name="Content Placeholder 2">
            <a:extLst>
              <a:ext uri="{FF2B5EF4-FFF2-40B4-BE49-F238E27FC236}">
                <a16:creationId xmlns:a16="http://schemas.microsoft.com/office/drawing/2014/main" id="{B80A023F-A2AE-D988-C597-635807F6E6DA}"/>
              </a:ext>
            </a:extLst>
          </p:cNvPr>
          <p:cNvSpPr>
            <a:spLocks noGrp="1"/>
          </p:cNvSpPr>
          <p:nvPr>
            <p:ph idx="4294967295"/>
          </p:nvPr>
        </p:nvSpPr>
        <p:spPr>
          <a:xfrm>
            <a:off x="780127" y="639646"/>
            <a:ext cx="10631745" cy="5306859"/>
          </a:xfrm>
        </p:spPr>
        <p:txBody>
          <a:bodyPr>
            <a:noAutofit/>
          </a:bodyPr>
          <a:lstStyle/>
          <a:p>
            <a:pPr marL="0" indent="0">
              <a:buNone/>
            </a:pPr>
            <a:r>
              <a:rPr lang="en-US" sz="1600" b="1" dirty="0"/>
              <a:t>6. Feature Matrix Construction</a:t>
            </a:r>
          </a:p>
          <a:p>
            <a:r>
              <a:rPr lang="en-US" sz="1600" dirty="0"/>
              <a:t>The extracted descriptors were aggregated into a numerical feature table, ensuring consistent feature ordering across all molecules. </a:t>
            </a:r>
          </a:p>
          <a:p>
            <a:r>
              <a:rPr lang="en-US" sz="1600" dirty="0"/>
              <a:t>SMILES strings were retained only for reference and feature generation, and were excluded from the machine-learning input to maintain numerical consistency.</a:t>
            </a:r>
          </a:p>
          <a:p>
            <a:pPr marL="0" indent="0">
              <a:buNone/>
            </a:pPr>
            <a:r>
              <a:rPr lang="en-US" sz="1600" b="1" dirty="0"/>
              <a:t>7. Data Splitting and Scaling</a:t>
            </a:r>
          </a:p>
          <a:p>
            <a:r>
              <a:rPr lang="en-US" sz="1600" dirty="0"/>
              <a:t>The dataset was divided into </a:t>
            </a:r>
            <a:r>
              <a:rPr lang="en-US" sz="1600" b="1" dirty="0"/>
              <a:t>training and testing sets</a:t>
            </a:r>
            <a:r>
              <a:rPr lang="en-US" sz="1600" dirty="0"/>
              <a:t> using an 80:20 split. </a:t>
            </a:r>
          </a:p>
          <a:p>
            <a:r>
              <a:rPr lang="en-US" sz="1600" dirty="0"/>
              <a:t>Feature scaling was applied using standardization to normalize descriptor ranges and improve model stability. The scaler was fitted on the training data and applied consistently to both training and test sets.</a:t>
            </a:r>
          </a:p>
          <a:p>
            <a:pPr marL="0" indent="0">
              <a:buNone/>
            </a:pPr>
            <a:r>
              <a:rPr lang="en-US" sz="1600" b="1" dirty="0"/>
              <a:t>8. Model Training (3D-QSAR)</a:t>
            </a:r>
          </a:p>
          <a:p>
            <a:r>
              <a:rPr lang="en-US" sz="1600" dirty="0"/>
              <a:t>A </a:t>
            </a:r>
            <a:r>
              <a:rPr lang="en-US" sz="1600" b="1" dirty="0"/>
              <a:t>Random Forest Regressor</a:t>
            </a:r>
            <a:r>
              <a:rPr lang="en-US" sz="1600" dirty="0"/>
              <a:t> was employed to construct the 3D-QSAR model due to its robustness, ability to handle nonlinear relationships, and strong performance on QSAR datasets. </a:t>
            </a:r>
          </a:p>
          <a:p>
            <a:r>
              <a:rPr lang="en-US" sz="1600" dirty="0"/>
              <a:t>The model was trained using the 3D molecular descriptors to learn the relationship between molecular structure and solubility.</a:t>
            </a:r>
          </a:p>
          <a:p>
            <a:endParaRPr lang="en-IN" sz="1600" dirty="0"/>
          </a:p>
        </p:txBody>
      </p:sp>
    </p:spTree>
    <p:extLst>
      <p:ext uri="{BB962C8B-B14F-4D97-AF65-F5344CB8AC3E}">
        <p14:creationId xmlns:p14="http://schemas.microsoft.com/office/powerpoint/2010/main" val="146121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DA968752-0358-68C1-639C-D03C59BC1C9D}"/>
              </a:ext>
            </a:extLst>
          </p:cNvPr>
          <p:cNvSpPr>
            <a:spLocks noGrp="1"/>
          </p:cNvSpPr>
          <p:nvPr>
            <p:ph type="title" idx="4294967295"/>
          </p:nvPr>
        </p:nvSpPr>
        <p:spPr>
          <a:xfrm>
            <a:off x="2587625" y="804863"/>
            <a:ext cx="9604375" cy="1049337"/>
          </a:xfrm>
        </p:spPr>
        <p:txBody>
          <a:bodyPr/>
          <a:lstStyle/>
          <a:p>
            <a:r>
              <a:rPr lang="en-US" dirty="0"/>
              <a:t> </a:t>
            </a:r>
            <a:endParaRPr lang="en-IN" dirty="0"/>
          </a:p>
        </p:txBody>
      </p:sp>
      <p:sp>
        <p:nvSpPr>
          <p:cNvPr id="8" name="Content Placeholder 7">
            <a:extLst>
              <a:ext uri="{FF2B5EF4-FFF2-40B4-BE49-F238E27FC236}">
                <a16:creationId xmlns:a16="http://schemas.microsoft.com/office/drawing/2014/main" id="{FFDE4B75-A2D8-861D-08B1-4CA35758F196}"/>
              </a:ext>
            </a:extLst>
          </p:cNvPr>
          <p:cNvSpPr>
            <a:spLocks noGrp="1"/>
          </p:cNvSpPr>
          <p:nvPr>
            <p:ph idx="4294967295"/>
          </p:nvPr>
        </p:nvSpPr>
        <p:spPr>
          <a:xfrm>
            <a:off x="823242" y="676275"/>
            <a:ext cx="11057706" cy="5376862"/>
          </a:xfrm>
        </p:spPr>
        <p:txBody>
          <a:bodyPr>
            <a:noAutofit/>
          </a:bodyPr>
          <a:lstStyle/>
          <a:p>
            <a:pPr marL="0" indent="0">
              <a:buNone/>
            </a:pPr>
            <a:r>
              <a:rPr lang="en-US" sz="1600" b="1" dirty="0"/>
              <a:t>9. Model Validation</a:t>
            </a:r>
          </a:p>
          <a:p>
            <a:r>
              <a:rPr lang="en-US" sz="1600" dirty="0"/>
              <a:t>Model performance was evaluated on the unseen test set using statistical metrics such as:</a:t>
            </a:r>
          </a:p>
          <a:p>
            <a:r>
              <a:rPr lang="en-US" sz="1600" dirty="0"/>
              <a:t>Coefficient of determination (R²)</a:t>
            </a:r>
          </a:p>
          <a:p>
            <a:r>
              <a:rPr lang="en-US" sz="1600" dirty="0"/>
              <a:t>Root Mean Square Error (RMSE)</a:t>
            </a:r>
          </a:p>
          <a:p>
            <a:r>
              <a:rPr lang="en-US" sz="1600" dirty="0"/>
              <a:t>These metrics quantify the predictive accuracy and generalization ability of the developed 3D-QSAR model.</a:t>
            </a:r>
          </a:p>
          <a:p>
            <a:pPr marL="0" indent="0">
              <a:buNone/>
            </a:pPr>
            <a:r>
              <a:rPr lang="en-US" sz="1600" b="1" dirty="0"/>
              <a:t>10. Prediction of New Molecules</a:t>
            </a:r>
          </a:p>
          <a:p>
            <a:r>
              <a:rPr lang="en-US" sz="1600" dirty="0"/>
              <a:t>For drug analysis and design applications, new molecules were introduced in the form of SMILES strings. </a:t>
            </a:r>
          </a:p>
          <a:p>
            <a:r>
              <a:rPr lang="en-US" sz="1600" dirty="0"/>
              <a:t>These SMILES were converted into 3D conformers, the same set of descriptors was extracted, and the trained model was used to predict their solubility values. </a:t>
            </a:r>
          </a:p>
          <a:p>
            <a:r>
              <a:rPr lang="en-US" sz="1600" dirty="0"/>
              <a:t>This demonstrates the applicability of the model for </a:t>
            </a:r>
            <a:r>
              <a:rPr lang="en-US" sz="1600" b="1" dirty="0"/>
              <a:t>virtual screening and property prediction</a:t>
            </a:r>
            <a:r>
              <a:rPr lang="en-US" sz="1600" dirty="0"/>
              <a:t>.</a:t>
            </a:r>
          </a:p>
          <a:p>
            <a:endParaRPr lang="en-IN" sz="1600" dirty="0"/>
          </a:p>
        </p:txBody>
      </p:sp>
    </p:spTree>
    <p:extLst>
      <p:ext uri="{BB962C8B-B14F-4D97-AF65-F5344CB8AC3E}">
        <p14:creationId xmlns:p14="http://schemas.microsoft.com/office/powerpoint/2010/main" val="332209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73FF63-3B43-C342-565D-675E87AB1E82}"/>
              </a:ext>
            </a:extLst>
          </p:cNvPr>
          <p:cNvSpPr>
            <a:spLocks noGrp="1"/>
          </p:cNvSpPr>
          <p:nvPr>
            <p:ph type="title" idx="4294967295"/>
          </p:nvPr>
        </p:nvSpPr>
        <p:spPr>
          <a:xfrm>
            <a:off x="-3252768" y="392069"/>
            <a:ext cx="9604375" cy="1049337"/>
          </a:xfrm>
        </p:spPr>
        <p:txBody>
          <a:bodyPr/>
          <a:lstStyle/>
          <a:p>
            <a:pPr algn="ctr"/>
            <a:r>
              <a:rPr lang="en-IN" b="1" i="1" u="sng" dirty="0">
                <a:solidFill>
                  <a:srgbClr val="CC3300"/>
                </a:solidFill>
              </a:rPr>
              <a:t>Results</a:t>
            </a:r>
          </a:p>
        </p:txBody>
      </p:sp>
      <p:sp>
        <p:nvSpPr>
          <p:cNvPr id="3" name="Content Placeholder 2">
            <a:extLst>
              <a:ext uri="{FF2B5EF4-FFF2-40B4-BE49-F238E27FC236}">
                <a16:creationId xmlns:a16="http://schemas.microsoft.com/office/drawing/2014/main" id="{6C85A4C6-0390-3BE6-A26C-2B20DE52CE2E}"/>
              </a:ext>
            </a:extLst>
          </p:cNvPr>
          <p:cNvSpPr>
            <a:spLocks noGrp="1"/>
          </p:cNvSpPr>
          <p:nvPr>
            <p:ph idx="4294967295"/>
          </p:nvPr>
        </p:nvSpPr>
        <p:spPr>
          <a:xfrm>
            <a:off x="772276" y="1109197"/>
            <a:ext cx="10288588" cy="4305046"/>
          </a:xfrm>
        </p:spPr>
        <p:txBody>
          <a:bodyPr>
            <a:normAutofit/>
          </a:bodyPr>
          <a:lstStyle/>
          <a:p>
            <a:r>
              <a:rPr lang="en-IN" dirty="0"/>
              <a:t>R² Score: 0.8651407884624194 </a:t>
            </a:r>
          </a:p>
          <a:p>
            <a:r>
              <a:rPr lang="en-IN" dirty="0"/>
              <a:t>RMSE: 0.7984065328422615</a:t>
            </a:r>
          </a:p>
        </p:txBody>
      </p:sp>
      <p:pic>
        <p:nvPicPr>
          <p:cNvPr id="5" name="Picture 4">
            <a:extLst>
              <a:ext uri="{FF2B5EF4-FFF2-40B4-BE49-F238E27FC236}">
                <a16:creationId xmlns:a16="http://schemas.microsoft.com/office/drawing/2014/main" id="{955667A5-F5A5-2428-EE41-6A4F3370646F}"/>
              </a:ext>
            </a:extLst>
          </p:cNvPr>
          <p:cNvPicPr>
            <a:picLocks noChangeAspect="1"/>
          </p:cNvPicPr>
          <p:nvPr/>
        </p:nvPicPr>
        <p:blipFill>
          <a:blip r:embed="rId2"/>
          <a:stretch>
            <a:fillRect/>
          </a:stretch>
        </p:blipFill>
        <p:spPr>
          <a:xfrm>
            <a:off x="939608" y="2206941"/>
            <a:ext cx="3057952" cy="3734321"/>
          </a:xfrm>
          <a:prstGeom prst="rect">
            <a:avLst/>
          </a:prstGeom>
          <a:ln w="38100">
            <a:solidFill>
              <a:schemeClr val="bg1"/>
            </a:solidFill>
          </a:ln>
        </p:spPr>
      </p:pic>
      <p:pic>
        <p:nvPicPr>
          <p:cNvPr id="7" name="Picture 6">
            <a:extLst>
              <a:ext uri="{FF2B5EF4-FFF2-40B4-BE49-F238E27FC236}">
                <a16:creationId xmlns:a16="http://schemas.microsoft.com/office/drawing/2014/main" id="{DC212E1B-E90A-E764-19B9-DFF3C5A1E0E5}"/>
              </a:ext>
            </a:extLst>
          </p:cNvPr>
          <p:cNvPicPr>
            <a:picLocks noChangeAspect="1"/>
          </p:cNvPicPr>
          <p:nvPr/>
        </p:nvPicPr>
        <p:blipFill>
          <a:blip r:embed="rId3"/>
          <a:stretch>
            <a:fillRect/>
          </a:stretch>
        </p:blipFill>
        <p:spPr>
          <a:xfrm>
            <a:off x="4424923" y="1251298"/>
            <a:ext cx="7539038" cy="4497505"/>
          </a:xfrm>
          <a:prstGeom prst="rect">
            <a:avLst/>
          </a:prstGeom>
          <a:ln w="28575">
            <a:solidFill>
              <a:schemeClr val="tx1"/>
            </a:solidFill>
          </a:ln>
        </p:spPr>
      </p:pic>
    </p:spTree>
    <p:extLst>
      <p:ext uri="{BB962C8B-B14F-4D97-AF65-F5344CB8AC3E}">
        <p14:creationId xmlns:p14="http://schemas.microsoft.com/office/powerpoint/2010/main" val="3364287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54894-9430-3AD7-81B6-4A9D014B4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473C7-DC88-DC95-6330-210332F8D11B}"/>
              </a:ext>
            </a:extLst>
          </p:cNvPr>
          <p:cNvSpPr>
            <a:spLocks noGrp="1"/>
          </p:cNvSpPr>
          <p:nvPr>
            <p:ph type="title" idx="4294967295"/>
          </p:nvPr>
        </p:nvSpPr>
        <p:spPr>
          <a:xfrm>
            <a:off x="-2712013" y="381432"/>
            <a:ext cx="9604375" cy="1049337"/>
          </a:xfrm>
        </p:spPr>
        <p:txBody>
          <a:bodyPr/>
          <a:lstStyle/>
          <a:p>
            <a:pPr algn="ctr"/>
            <a:r>
              <a:rPr lang="en-IN" b="1" i="1" u="sng" dirty="0">
                <a:solidFill>
                  <a:srgbClr val="CC3300"/>
                </a:solidFill>
              </a:rPr>
              <a:t>conclusion</a:t>
            </a:r>
          </a:p>
        </p:txBody>
      </p:sp>
      <p:sp>
        <p:nvSpPr>
          <p:cNvPr id="3" name="Content Placeholder 2">
            <a:extLst>
              <a:ext uri="{FF2B5EF4-FFF2-40B4-BE49-F238E27FC236}">
                <a16:creationId xmlns:a16="http://schemas.microsoft.com/office/drawing/2014/main" id="{341DA6A5-94FB-2CC1-A8D1-DC3E3FE89998}"/>
              </a:ext>
            </a:extLst>
          </p:cNvPr>
          <p:cNvSpPr>
            <a:spLocks noGrp="1"/>
          </p:cNvSpPr>
          <p:nvPr>
            <p:ph idx="4294967295"/>
          </p:nvPr>
        </p:nvSpPr>
        <p:spPr>
          <a:xfrm>
            <a:off x="716906" y="1430769"/>
            <a:ext cx="10288588" cy="4305046"/>
          </a:xfrm>
        </p:spPr>
        <p:txBody>
          <a:bodyPr>
            <a:normAutofit/>
          </a:bodyPr>
          <a:lstStyle/>
          <a:p>
            <a:r>
              <a:rPr lang="en-US" sz="1600" dirty="0"/>
              <a:t>In this study, a complete </a:t>
            </a:r>
            <a:r>
              <a:rPr lang="en-US" sz="1600" b="1" dirty="0"/>
              <a:t>3D-QSAR and machine-learning pipeline</a:t>
            </a:r>
            <a:r>
              <a:rPr lang="en-US" sz="1600" dirty="0"/>
              <a:t> was successfully developed to predict molecular solubility from chemical structure. </a:t>
            </a:r>
          </a:p>
          <a:p>
            <a:r>
              <a:rPr lang="en-US" sz="1600" dirty="0"/>
              <a:t>SMILES representations were transformed into optimized three-dimensional conformers, enabling the extraction of meaningful 3D shape and physicochemical descriptors. </a:t>
            </a:r>
          </a:p>
          <a:p>
            <a:r>
              <a:rPr lang="en-US" sz="1600" dirty="0"/>
              <a:t>The results demonstrate that </a:t>
            </a:r>
            <a:r>
              <a:rPr lang="en-US" sz="1600" b="1" dirty="0"/>
              <a:t>3D molecular features provide valuable information for predicting drug-relevant properties</a:t>
            </a:r>
            <a:r>
              <a:rPr lang="en-US" sz="1600" dirty="0"/>
              <a:t>, and that machine-learning models can effectively leverage these features for accurate prediction. </a:t>
            </a:r>
          </a:p>
          <a:p>
            <a:r>
              <a:rPr lang="en-US" sz="1600" dirty="0"/>
              <a:t>The developed approach allows for the rapid evaluation of new molecules prior to synthesis, making it highly suitable for </a:t>
            </a:r>
            <a:r>
              <a:rPr lang="en-US" sz="1600" b="1" dirty="0"/>
              <a:t>drug discovery and molecular design workflows</a:t>
            </a:r>
            <a:r>
              <a:rPr lang="en-US" sz="1600" dirty="0"/>
              <a:t>.</a:t>
            </a:r>
            <a:endParaRPr lang="en-IN" sz="1600" dirty="0"/>
          </a:p>
        </p:txBody>
      </p:sp>
    </p:spTree>
    <p:extLst>
      <p:ext uri="{BB962C8B-B14F-4D97-AF65-F5344CB8AC3E}">
        <p14:creationId xmlns:p14="http://schemas.microsoft.com/office/powerpoint/2010/main" val="3958740654"/>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{8D60D30E-8A9B-47DD-BEE9-C3781DF27A71}TFc986dd65-aaf0-4d5c-bef9-9c391ee05f7b738e0fce-4a319d133af4</Template>
  <TotalTime>160</TotalTime>
  <Words>1226</Words>
  <Application>Microsoft Office PowerPoint</Application>
  <PresentationFormat>Widescreen</PresentationFormat>
  <Paragraphs>94</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Arial Rounded MT Bold</vt:lpstr>
      <vt:lpstr>Gill Sans MT</vt:lpstr>
      <vt:lpstr>Gallery</vt:lpstr>
      <vt:lpstr>3-D QSAR and drug design     Analysis</vt:lpstr>
      <vt:lpstr>INTRODUCTION:      </vt:lpstr>
      <vt:lpstr>oBJECTIVES</vt:lpstr>
      <vt:lpstr>Problem statement</vt:lpstr>
      <vt:lpstr>Dataset description</vt:lpstr>
      <vt:lpstr>Methodology </vt:lpstr>
      <vt:lpstr> </vt:lpstr>
      <vt:lpstr> </vt:lpstr>
      <vt:lpstr> </vt:lpstr>
      <vt:lpstr>Results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Aravind Harilal</dc:creator>
  <cp:lastModifiedBy>Anirudh Jayan</cp:lastModifiedBy>
  <cp:revision>31</cp:revision>
  <dcterms:created xsi:type="dcterms:W3CDTF">2026-01-20T15:05:59Z</dcterms:created>
  <dcterms:modified xsi:type="dcterms:W3CDTF">2026-03-09T17:54:59Z</dcterms:modified>
</cp:coreProperties>
</file>